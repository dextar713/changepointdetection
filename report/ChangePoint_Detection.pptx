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038C21-8FF6-808C-E5A6-E2D53932A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20139F-9C01-2F69-0393-5BF8FC7B9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524FEB-0652-517B-5069-50DF249F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58BA-8674-4AF3-B1C1-BDB8EAAA226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4073D7-75AF-2CFF-8258-0C27ADA2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399511-6E4F-AE9A-F6AF-1A3B003DE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D6046-23B0-44F3-8311-92C079694E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78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777143-4A1D-8C04-B10E-A7127B2F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210839-77B4-5FD6-2147-380998EFB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B66E22-06F1-87E0-D068-4BC85AA5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58BA-8674-4AF3-B1C1-BDB8EAAA226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E57B3A-6254-9932-8541-E722452F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DD725B-5AE6-4778-2D64-71DC4091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D6046-23B0-44F3-8311-92C079694E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28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7AA4F-CED2-2A5F-A710-00F2AA63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B6123D-D038-6E4B-83BC-5C33E1C22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9FA476-C559-DCFF-B41C-1E1D25ED1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58BA-8674-4AF3-B1C1-BDB8EAAA226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0079F7-63C8-F60A-7FFF-E5F0D9FD9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9810BD-A356-00D5-3169-FF593271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D6046-23B0-44F3-8311-92C079694E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993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55D3D-018E-7A37-40C9-354015CCF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2E9419-A3DE-8041-73FA-77C52C705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7A748D-A351-BF94-B2B2-60B083E21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CC4324-2479-2835-FDD9-0FE8CF600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58BA-8674-4AF3-B1C1-BDB8EAAA226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D2776D-A9C8-57F6-FEFC-D3173A60E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C84F13-B7B3-96E3-AA9F-DBBC9421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D6046-23B0-44F3-8311-92C079694E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99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D2708-D97F-D0FE-6BA1-C506EF973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5D4AD0-3D39-15C4-AF37-1CE38946E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25A68F-76A0-8F4B-311B-6E31927B3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D6E706-56D1-98BB-5164-279899159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97067CD-6BE8-F2F8-FE59-39D96CE00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429EA0-4807-78E2-E295-3B8A3DFC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58BA-8674-4AF3-B1C1-BDB8EAAA226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1D76D55-DF54-BDD0-B679-3042509CD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F60C9B8-7761-3B51-F6FF-4EB4E50F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D6046-23B0-44F3-8311-92C079694E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69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405D1-84C4-0CB7-F0B2-ED09991C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B12453-FD5D-A94F-76D6-705637ACE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58BA-8674-4AF3-B1C1-BDB8EAAA226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12014C5-11FF-2BB7-EC99-678B0D41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2578A6-1735-1A4C-224B-6E62B33B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D6046-23B0-44F3-8311-92C079694E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318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A22FFC2-B6B0-2DA2-0519-D5E01CE76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58BA-8674-4AF3-B1C1-BDB8EAAA226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023CB49-EA73-914E-8073-EA46AC145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FCC2D2-E81F-CDEB-328B-AC07E029C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D6046-23B0-44F3-8311-92C079694E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984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66F9F-DD41-12BC-03C6-19F0107D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442AD7-F7F1-807D-AF67-CD2748FD5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CC211C-D4E4-DA91-1EB5-B13633278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1CE293-A743-A740-3F18-0BA77EF4C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58BA-8674-4AF3-B1C1-BDB8EAAA226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63316D-9E89-A70C-C337-055847711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1BF9E5-621B-38E4-BC0A-E86C9B0D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D6046-23B0-44F3-8311-92C079694E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41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E1B1F-1D08-DC86-9397-29E6BE988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2E34609-989A-87EC-1D62-F2E341E51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11483-D5C0-FBE0-382C-0164A7A22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C9AC64-01A4-4682-D5C6-0E7FCD62C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58BA-8674-4AF3-B1C1-BDB8EAAA226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3DCD10-3928-242A-60AE-5ACC267D8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562E3D-38CD-097D-FD90-ADC5767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D6046-23B0-44F3-8311-92C079694E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97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E4B263-9FFC-363D-B8D1-0443E32B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429A9F-3473-1E8A-0ED1-914856A9C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D8216F-8464-85E8-C228-0D196709E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58BA-8674-4AF3-B1C1-BDB8EAAA226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84DB6E-5670-0B40-D27C-2F6779A89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571F02-DE28-A949-6040-2A7AACCBC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D6046-23B0-44F3-8311-92C079694E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346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4861A52-099A-4568-B915-949B838F7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A1ACF1-5A11-BF19-0E83-63E703CEF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18B709-5394-0B99-E2D3-69635B4B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558BA-8674-4AF3-B1C1-BDB8EAAA226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8D1D4A-3ADD-D75E-9899-F2B548D9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F9257B-6047-1F40-3FAD-5E96695C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D6046-23B0-44F3-8311-92C079694E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8399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5E2ED-7354-4E69-415C-F3E502478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1662BA-296B-3DDB-BD0B-13A45904E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BD06A4-B09F-9818-31E0-0333A5C107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558BA-8674-4AF3-B1C1-BDB8EAAA226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6D607-6DBB-8E79-51A4-EC9B0DC2F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73227A-4AAF-84EF-6153-AF8E6DF6B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D6046-23B0-44F3-8311-92C079694E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316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168CA2-E2B0-0883-E85C-8415FCA58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387"/>
            <a:ext cx="9144000" cy="2387600"/>
          </a:xfrm>
        </p:spPr>
        <p:txBody>
          <a:bodyPr/>
          <a:lstStyle/>
          <a:p>
            <a:r>
              <a:rPr lang="en-US" dirty="0"/>
              <a:t>Change-point Detection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88B071-FC88-831A-3BE1-C89FACE941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Algorithms for change-point detection (CPD), linear trend following trading system based on CPD.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05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F1CF21-0DBC-556C-243C-EC1D12438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Change-point Detection?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D3A371-CD79-2066-630A-FBD5AA262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Identifying points where time series behavior changes</a:t>
            </a:r>
          </a:p>
          <a:p>
            <a:r>
              <a:rPr lang="en-US" dirty="0"/>
              <a:t>Change-points split time series into multiple segments</a:t>
            </a:r>
          </a:p>
          <a:p>
            <a:r>
              <a:rPr lang="en-US" dirty="0"/>
              <a:t>It is assumed that on each segment data exhibits identical properties</a:t>
            </a:r>
          </a:p>
          <a:p>
            <a:r>
              <a:rPr lang="en-US" dirty="0"/>
              <a:t>Different types of change can be identified (mean, variance, etc.)</a:t>
            </a:r>
          </a:p>
          <a:p>
            <a:r>
              <a:rPr lang="en-US" dirty="0"/>
              <a:t>For each type some numerical metric is being used (cost function)</a:t>
            </a:r>
          </a:p>
          <a:p>
            <a:r>
              <a:rPr lang="en-US" dirty="0"/>
              <a:t>Different scenarios: offline and online (real-time)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7590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F48ED-A3F3-2AF9-C321-4293E6F1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Functions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4110897-BA17-A520-99E1-1CF3954E6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Cost measures the homogeneity of data on each segment </a:t>
                </a:r>
              </a:p>
              <a:p>
                <a:r>
                  <a:rPr lang="en-US" dirty="0"/>
                  <a:t>Different cost functions for different change types</a:t>
                </a:r>
              </a:p>
              <a:p>
                <a:r>
                  <a:rPr lang="en-US" dirty="0"/>
                  <a:t>The lower the total cost, the better the time series is split</a:t>
                </a:r>
              </a:p>
              <a:p>
                <a:r>
                  <a:rPr lang="en-US" dirty="0"/>
                  <a:t>Parametric vs non parametric cost functions</a:t>
                </a:r>
              </a:p>
              <a:p>
                <a:r>
                  <a:rPr lang="en-US" dirty="0"/>
                  <a:t>Definition of parametric cost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lit/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ML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=−</m:t>
                      </m:r>
                      <m:limLow>
                        <m:limLow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sup</m:t>
                          </m:r>
                        </m:e>
                        <m:li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sepChr m:val="∣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lim>
                      </m:limLow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4110897-BA17-A520-99E1-1CF3954E6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497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2B6D7F-36D0-C044-E12E-C81619765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9547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Cost Functions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DF20E2D-0F8F-F4D5-902E-5EC41BF100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5564"/>
                <a:ext cx="10515600" cy="5167311"/>
              </a:xfrm>
            </p:spPr>
            <p:txBody>
              <a:bodyPr/>
              <a:lstStyle/>
              <a:p>
                <a:r>
                  <a:rPr lang="en-US" dirty="0"/>
                  <a:t>Change in mean (L2 norm):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m:rPr>
                              <m:lit/>
                            </m:rPr>
                            <a:rPr lang="ru-RU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lang="ru-RU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Change in mean and variance: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func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m:rPr>
                              <m:lit/>
                            </m:rPr>
                            <a:rPr lang="ru-RU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lang="ru-RU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Change in slope and intercept (linear):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i="0" smtClean="0">
                              <a:latin typeface="Cambria Math" panose="02040503050406030204" pitchFamily="18" charset="0"/>
                            </a:rPr>
                            <m:t>linear</m:t>
                          </m:r>
                        </m:sub>
                      </m:sSub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ru-RU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lit/>
                                    </m:r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  <m:sSubSup>
                                <m:sSubSup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lit/>
                                    </m:r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b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DF20E2D-0F8F-F4D5-902E-5EC41BF100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5564"/>
                <a:ext cx="10515600" cy="5167311"/>
              </a:xfrm>
              <a:blipFill>
                <a:blip r:embed="rId2"/>
                <a:stretch>
                  <a:fillRect l="-1043" t="-18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2939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29B70E-B1D5-36B5-D8F1-06A106B1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Computers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089122-1066-95D0-0DEB-BEC4CD027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segment its cost needs to be computed</a:t>
            </a:r>
          </a:p>
          <a:p>
            <a:r>
              <a:rPr lang="en-US" dirty="0"/>
              <a:t>Naive approach: iterate over each value in segment and make calculations</a:t>
            </a:r>
          </a:p>
          <a:p>
            <a:r>
              <a:rPr lang="en-US" dirty="0"/>
              <a:t>Efficient approach: most costs are based on properties which depend on simple sums or squared sums. Precomputing prefix sums over the whole time series can help calculate segment costs in O(1) time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9935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0CE900-1FEC-E48F-F295-8CE2EE11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018F7B-6F2E-BDE5-9873-BB037F5CE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algorithms for CPD: CUSUM, Binary Segmentation, Optimal Partitioning, PELT, Bayesian CPD</a:t>
            </a:r>
          </a:p>
          <a:p>
            <a:r>
              <a:rPr lang="en-US" dirty="0"/>
              <a:t>Binary Segmentation (</a:t>
            </a:r>
            <a:r>
              <a:rPr lang="en-US" dirty="0" err="1"/>
              <a:t>BinSeg</a:t>
            </a:r>
            <a:r>
              <a:rPr lang="en-US" dirty="0"/>
              <a:t>): greedy selection of best point which splits segment into 2 smaller ones by minimizing cost. Relatively fast: O(</a:t>
            </a:r>
            <a:r>
              <a:rPr lang="en-US" dirty="0" err="1"/>
              <a:t>nlogn</a:t>
            </a:r>
            <a:r>
              <a:rPr lang="en-US" dirty="0"/>
              <a:t>) time complexity on average and O(n^2) in the worst case</a:t>
            </a:r>
          </a:p>
          <a:p>
            <a:r>
              <a:rPr lang="en-US" dirty="0"/>
              <a:t>Optimal Partitioning (</a:t>
            </a:r>
            <a:r>
              <a:rPr lang="en-US" dirty="0" err="1"/>
              <a:t>Opt</a:t>
            </a:r>
            <a:r>
              <a:rPr lang="en-US" dirty="0"/>
              <a:t>): using dynamic programming to make globally optimal splits. Slower than </a:t>
            </a:r>
            <a:r>
              <a:rPr lang="en-US" dirty="0" err="1"/>
              <a:t>BinSeg</a:t>
            </a:r>
            <a:r>
              <a:rPr lang="en-US" dirty="0"/>
              <a:t>, O(n^2) on average and in the worst case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7678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75B23A-15FE-6084-AA96-7688D64AF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Segmenation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5C97D04-3AEB-1611-8564-1AC629AA02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number of change-points K is known/fixed, the algorithm makes K iterations to greedily select K best splits</a:t>
                </a:r>
              </a:p>
              <a:p>
                <a:r>
                  <a:rPr lang="en-US" dirty="0"/>
                  <a:t>If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:r>
                  <a:rPr lang="en-US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c(x[</a:t>
                </a:r>
                <a:r>
                  <a:rPr lang="en-US" i="1" dirty="0" err="1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start:end</a:t>
                </a:r>
                <a:r>
                  <a:rPr lang="en-US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 </a:t>
                </a:r>
                <a:r>
                  <a:rPr lang="en-US" dirty="0"/>
                  <a:t>represents the cost of current segment and a split point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start&lt;point&lt;end </a:t>
                </a:r>
                <a:r>
                  <a:rPr lang="en-US" dirty="0"/>
                  <a:t>is chosen, then the split is worth it only if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𝑠𝑡𝑎𝑟𝑡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</m:e>
                          </m:d>
                        </m:e>
                      </m:d>
                      <m:r>
                        <a:rPr lang="ru-RU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+1: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𝑒𝑛𝑑</m:t>
                              </m:r>
                            </m:e>
                          </m:d>
                        </m:e>
                      </m:d>
                      <m:r>
                        <a:rPr lang="ru-RU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ru-RU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u-RU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𝑠𝑡𝑎𝑟𝑡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𝑒𝑛𝑑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beta is fixed penalty which needs to be chosen</a:t>
                </a:r>
              </a:p>
              <a:p>
                <a:r>
                  <a:rPr lang="en-US" dirty="0"/>
                  <a:t>Minimum distance parameter </a:t>
                </a:r>
                <a:r>
                  <a:rPr lang="en-US" dirty="0" err="1"/>
                  <a:t>min_dist</a:t>
                </a:r>
                <a:r>
                  <a:rPr lang="en-US" dirty="0"/>
                  <a:t> ensures spacing between points to reduce the number of false positives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5C97D04-3AEB-1611-8564-1AC629AA02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484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F428C9-84E3-F91F-1E7E-ADF7FB16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Segmentation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1E64D5-8AFE-7357-825C-70570B419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Steps of the algorithm:</a:t>
            </a:r>
          </a:p>
          <a:p>
            <a:pPr marL="0" indent="0">
              <a:buNone/>
            </a:pPr>
            <a:r>
              <a:rPr lang="en-US" dirty="0"/>
              <a:t>1. Get time series as input and initialize a cost computer.</a:t>
            </a:r>
          </a:p>
          <a:p>
            <a:pPr marL="0" indent="0">
              <a:buNone/>
            </a:pPr>
            <a:r>
              <a:rPr lang="en-US" dirty="0"/>
              <a:t>2. Set a fixed penalty based on input time series.</a:t>
            </a:r>
          </a:p>
          <a:p>
            <a:pPr marL="0" indent="0">
              <a:buNone/>
            </a:pPr>
            <a:r>
              <a:rPr lang="en-US" dirty="0"/>
              <a:t>3. Initialize a list of tuples which represents segments with value (0, N) where</a:t>
            </a:r>
          </a:p>
          <a:p>
            <a:pPr marL="0" indent="0">
              <a:buNone/>
            </a:pPr>
            <a:r>
              <a:rPr lang="en-US" dirty="0"/>
              <a:t>     N is the number of samples in time series.</a:t>
            </a:r>
          </a:p>
          <a:p>
            <a:pPr marL="0" indent="0">
              <a:buNone/>
            </a:pPr>
            <a:r>
              <a:rPr lang="en-US" dirty="0"/>
              <a:t>4. While current gain is greater than penalty do</a:t>
            </a:r>
          </a:p>
          <a:p>
            <a:pPr marL="0" indent="0">
              <a:buNone/>
            </a:pPr>
            <a:r>
              <a:rPr lang="en-US" dirty="0"/>
              <a:t>5. Iterate over all segments (tuples) in segments list and for each segment</a:t>
            </a:r>
          </a:p>
          <a:p>
            <a:pPr marL="0" indent="0">
              <a:buNone/>
            </a:pPr>
            <a:r>
              <a:rPr lang="en-US" dirty="0"/>
              <a:t>calculate the best split which maximizes the gain</a:t>
            </a:r>
          </a:p>
          <a:p>
            <a:pPr marL="0" indent="0">
              <a:buNone/>
            </a:pPr>
            <a:r>
              <a:rPr lang="en-US" dirty="0"/>
              <a:t>6. Pick the best gain out of all gains and if it is higher than penalty, make</a:t>
            </a:r>
          </a:p>
          <a:p>
            <a:pPr marL="0" indent="0">
              <a:buNone/>
            </a:pPr>
            <a:r>
              <a:rPr lang="en-US" dirty="0"/>
              <a:t>a new split and update segments list. Also add new change-point to the</a:t>
            </a:r>
          </a:p>
          <a:p>
            <a:pPr marL="0" indent="0">
              <a:buNone/>
            </a:pPr>
            <a:r>
              <a:rPr lang="en-US" dirty="0"/>
              <a:t>output list.</a:t>
            </a:r>
          </a:p>
          <a:p>
            <a:pPr marL="0" indent="0">
              <a:buNone/>
            </a:pPr>
            <a:r>
              <a:rPr lang="en-US" dirty="0"/>
              <a:t>7. Return the sorted list of all found change-points.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5793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5BF13-BD17-041F-27AA-7A66CBCD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Partitioning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C0B0491-A838-AB64-A696-D38F005675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Based on Dynamic Programming technique</a:t>
                </a:r>
              </a:p>
              <a:p>
                <a:r>
                  <a:rPr lang="en-US" dirty="0"/>
                  <a:t>Ensures globally optimal solutions</a:t>
                </a:r>
              </a:p>
              <a:p>
                <a:r>
                  <a:rPr lang="en-US" dirty="0"/>
                  <a:t>On average slower than </a:t>
                </a:r>
                <a:r>
                  <a:rPr lang="en-US" dirty="0" err="1"/>
                  <a:t>BinSeg</a:t>
                </a:r>
                <a:r>
                  <a:rPr lang="en-US" dirty="0"/>
                  <a:t> with O(n^2) time complexity</a:t>
                </a:r>
              </a:p>
              <a:p>
                <a:r>
                  <a:rPr lang="en-US" dirty="0"/>
                  <a:t>To compute optimal cost vector C the recurrent formula is used: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 smtClean="0">
                          <a:latin typeface="Cambria Math" panose="02040503050406030204" pitchFamily="18" charset="0"/>
                        </a:rPr>
                        <m:t>𝑚𝑖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0&lt;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Using PELT pruning step time complexity can be improved to O(n)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C0B0491-A838-AB64-A696-D38F005675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427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DD6E2-76CE-6F14-11C8-5F84E7475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Penalty Choice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8D867D-A192-7923-81ED-48DD88CA56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order to prevent algorithms from finding too many change-points, penalty is needed</a:t>
                </a:r>
              </a:p>
              <a:p>
                <a:r>
                  <a:rPr lang="en-US" dirty="0"/>
                  <a:t>Many different ways to choose a fixed penalty</a:t>
                </a:r>
              </a:p>
              <a:p>
                <a:r>
                  <a:rPr lang="en-US" dirty="0"/>
                  <a:t>2 popular choices: Bayesian information criterion (BIC) and Akaike information criterion (AIC)</a:t>
                </a:r>
              </a:p>
              <a:p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𝑘</m:t>
                    </m:r>
                    <m:func>
                      <m:func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ru-RU" i="1" smtClean="0">
                        <a:latin typeface="Cambria Math" panose="02040503050406030204" pitchFamily="18" charset="0"/>
                      </a:rPr>
                      <m:t>−2</m:t>
                    </m:r>
                    <m:func>
                      <m:func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acc>
                          <m:accPr>
                            <m:chr m:val="̂"/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</m:e>
                    </m:func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−2</m:t>
                    </m:r>
                    <m:func>
                      <m:func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acc>
                          <m:accPr>
                            <m:chr m:val="̂"/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</m:e>
                    </m:func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8D867D-A192-7923-81ED-48DD88CA56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294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2AE78-9CEE-0D3B-D59A-C9C1B05F9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Wrapper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CC30D9-B12B-33FE-46DE-B4BDB3EFE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Previously mentioned algorithms were implemented to work with offline data</a:t>
            </a:r>
          </a:p>
          <a:p>
            <a:r>
              <a:rPr lang="en-US" dirty="0" err="1"/>
              <a:t>NaiveOnlineDetector</a:t>
            </a:r>
            <a:r>
              <a:rPr lang="en-US" dirty="0"/>
              <a:t> is an online wrapper for offline algorithms</a:t>
            </a:r>
          </a:p>
          <a:p>
            <a:r>
              <a:rPr lang="en-US" dirty="0"/>
              <a:t>It receives cost type, algorithm type, minimum distance and horizon size as parameters</a:t>
            </a:r>
          </a:p>
          <a:p>
            <a:r>
              <a:rPr lang="en-US" dirty="0"/>
              <a:t>It keeps local buffer of time series values and updates them when new data arrives</a:t>
            </a:r>
          </a:p>
          <a:p>
            <a:r>
              <a:rPr lang="en-US" dirty="0"/>
              <a:t>Horizon size limits the size of the buffer to save memory and keep only fresh data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206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92078-1F09-2CD9-DB31-8B1CAD2C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results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9DDC4E-B5B1-8E36-E947-E797E8D67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general, </a:t>
            </a:r>
            <a:r>
              <a:rPr lang="en-US" dirty="0" err="1"/>
              <a:t>BinSeg</a:t>
            </a:r>
            <a:r>
              <a:rPr lang="en-US" dirty="0"/>
              <a:t> algorithm is more susceptible to noise, detects more false positives than </a:t>
            </a:r>
            <a:r>
              <a:rPr lang="en-US" dirty="0" err="1"/>
              <a:t>Opt</a:t>
            </a:r>
            <a:endParaRPr lang="en-US" dirty="0"/>
          </a:p>
          <a:p>
            <a:r>
              <a:rPr lang="en-US" dirty="0"/>
              <a:t>On stock market data both algorithms capture major trends, </a:t>
            </a:r>
            <a:r>
              <a:rPr lang="en-US" dirty="0" err="1"/>
              <a:t>Opt</a:t>
            </a:r>
            <a:r>
              <a:rPr lang="en-US" dirty="0"/>
              <a:t> better filters out noise</a:t>
            </a:r>
          </a:p>
          <a:p>
            <a:r>
              <a:rPr lang="en-US" dirty="0"/>
              <a:t>In online scenarios when minimum distance parameter is small, much noise is being captured. By increasing the value of </a:t>
            </a:r>
            <a:r>
              <a:rPr lang="en-US" dirty="0" err="1"/>
              <a:t>min_dist</a:t>
            </a:r>
            <a:r>
              <a:rPr lang="en-US" dirty="0"/>
              <a:t> parameter, the number of false positives drops and accuracy improves.</a:t>
            </a:r>
          </a:p>
          <a:p>
            <a:r>
              <a:rPr lang="en-US" dirty="0"/>
              <a:t>However, high minimum distance increases delay at which change-points are being detected, which can be critical in real-time scenarios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9123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249C09-3659-99EE-555B-44A785E87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 change detection offline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1A715E-0044-2CDD-CABA-E91EEDB2D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 err="1"/>
              <a:t>BinSeg</a:t>
            </a:r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CB0A1A6-0415-7B7A-9964-4309B385F8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3057922"/>
            <a:ext cx="5157787" cy="2578893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033866D3-785E-D6CB-4010-626456326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 err="1"/>
              <a:t>Opt</a:t>
            </a:r>
            <a:endParaRPr lang="ru-RU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2AEE34A4-2D3D-BB4A-3A49-43F274E5EBC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051572"/>
            <a:ext cx="5183188" cy="2591594"/>
          </a:xfrm>
        </p:spPr>
      </p:pic>
    </p:spTree>
    <p:extLst>
      <p:ext uri="{BB962C8B-B14F-4D97-AF65-F5344CB8AC3E}">
        <p14:creationId xmlns:p14="http://schemas.microsoft.com/office/powerpoint/2010/main" val="1327357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C33AE6-FB1D-4383-9520-0AC6C6A2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 change online stock prices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F39255-EDE5-DC0F-D10B-8E5F71792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 err="1"/>
              <a:t>Opt</a:t>
            </a:r>
            <a:r>
              <a:rPr lang="en-US" dirty="0"/>
              <a:t> with </a:t>
            </a:r>
            <a:r>
              <a:rPr lang="en-US" dirty="0" err="1"/>
              <a:t>min_dist</a:t>
            </a:r>
            <a:r>
              <a:rPr lang="en-US" dirty="0"/>
              <a:t> = 10</a:t>
            </a:r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D1BA325-A9A0-3AB1-6A9B-A3BD0FA979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3057922"/>
            <a:ext cx="5157787" cy="2578893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A28B21B1-DA71-0FAC-9F6D-EAA2B77083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 err="1"/>
              <a:t>Opt</a:t>
            </a:r>
            <a:r>
              <a:rPr lang="en-US" dirty="0"/>
              <a:t> with </a:t>
            </a:r>
            <a:r>
              <a:rPr lang="en-US" dirty="0" err="1"/>
              <a:t>min_dist</a:t>
            </a:r>
            <a:r>
              <a:rPr lang="en-US" dirty="0"/>
              <a:t> = 15</a:t>
            </a:r>
            <a:endParaRPr lang="ru-RU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4094FEF4-DA6B-AFD0-0E6C-8B51077B9DB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051572"/>
            <a:ext cx="5183188" cy="2591594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E277A1-1D6A-B966-A166-0153D800B1B1}"/>
              </a:ext>
            </a:extLst>
          </p:cNvPr>
          <p:cNvSpPr txBox="1"/>
          <p:nvPr/>
        </p:nvSpPr>
        <p:spPr>
          <a:xfrm>
            <a:off x="3913632" y="5724144"/>
            <a:ext cx="4663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Higher minimum distance filters out more noise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7495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52446-3BB5-6C98-7BCE-B0D56BEC8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Trend Following Trading Strategy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70EDD0-54B0-8F75-4894-37623D506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CPD can be applied in finance and trading to detect when stock prices change </a:t>
            </a:r>
            <a:r>
              <a:rPr lang="en-US" dirty="0" err="1"/>
              <a:t>behaviour</a:t>
            </a:r>
            <a:endParaRPr lang="en-US" dirty="0"/>
          </a:p>
          <a:p>
            <a:r>
              <a:rPr lang="en-US" dirty="0"/>
              <a:t>Based on CPD a trend following strategy can be built</a:t>
            </a:r>
          </a:p>
          <a:p>
            <a:r>
              <a:rPr lang="en-US" dirty="0"/>
              <a:t>When change-point is detected, buy or sell order can be executed based on the new trend. New trend should be strong enough compared to global trend</a:t>
            </a:r>
          </a:p>
          <a:p>
            <a:r>
              <a:rPr lang="en-US" dirty="0"/>
              <a:t>Skip trading during low volume periods of time </a:t>
            </a:r>
          </a:p>
          <a:p>
            <a:r>
              <a:rPr lang="en-US" dirty="0"/>
              <a:t>Adjust position size based on trend to noise ratio (mean returns over lookback period divided by standard deviation)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6382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91F8F-9561-D414-C24D-1A5F21516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Trading Strategy Steps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A6AF84-FFD3-9BDC-8461-8FB1984BA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AutoNum type="arabicPeriod"/>
            </a:pPr>
            <a:r>
              <a:rPr lang="en-US" dirty="0"/>
              <a:t>Initialize online detector with linear cost type, </a:t>
            </a:r>
            <a:r>
              <a:rPr lang="en-US" dirty="0" err="1"/>
              <a:t>Opt</a:t>
            </a:r>
            <a:r>
              <a:rPr lang="en-US" dirty="0"/>
              <a:t> or </a:t>
            </a:r>
            <a:r>
              <a:rPr lang="en-US" dirty="0" err="1"/>
              <a:t>BinSeg</a:t>
            </a:r>
            <a:r>
              <a:rPr lang="en-US" dirty="0"/>
              <a:t> model type, </a:t>
            </a:r>
          </a:p>
          <a:p>
            <a:pPr marL="0" indent="0">
              <a:buNone/>
            </a:pPr>
            <a:r>
              <a:rPr lang="en-US" dirty="0"/>
              <a:t>minimum distance and horizon size parameters.</a:t>
            </a:r>
          </a:p>
          <a:p>
            <a:pPr marL="0" indent="0">
              <a:buNone/>
            </a:pPr>
            <a:r>
              <a:rPr lang="en-US" dirty="0"/>
              <a:t>2. For each new closing price data available, update the detector with it and find whether a new change-point has been detected.</a:t>
            </a:r>
          </a:p>
          <a:p>
            <a:pPr marL="0" indent="0">
              <a:buNone/>
            </a:pPr>
            <a:r>
              <a:rPr lang="en-US" dirty="0"/>
              <a:t>3. If new change-point is detected, calculate the angle of the slope of linear regression line fitted to prices in range from detected</a:t>
            </a:r>
          </a:p>
          <a:p>
            <a:pPr marL="0" indent="0">
              <a:buNone/>
            </a:pPr>
            <a:r>
              <a:rPr lang="en-US" dirty="0"/>
              <a:t> point to current moment. This angle represents an estimate of trend strength.</a:t>
            </a:r>
          </a:p>
          <a:p>
            <a:pPr marL="0" indent="0">
              <a:buNone/>
            </a:pPr>
            <a:r>
              <a:rPr lang="en-US" dirty="0"/>
              <a:t>4. Update exponential moving average of trend and continue only if current trend is strong enough compared to average.</a:t>
            </a:r>
          </a:p>
          <a:p>
            <a:pPr marL="0" indent="0">
              <a:buNone/>
            </a:pPr>
            <a:r>
              <a:rPr lang="en-US" dirty="0"/>
              <a:t>5. Calculate global trend using a fixed look-back period and continue trading only if local trend change is stronger than global trend.</a:t>
            </a:r>
          </a:p>
          <a:p>
            <a:pPr marL="0" indent="0">
              <a:buNone/>
            </a:pPr>
            <a:r>
              <a:rPr lang="en-US" dirty="0"/>
              <a:t>6. Skip trade if it was a low volume day (compared to average volume from volume look-back window.</a:t>
            </a:r>
          </a:p>
          <a:p>
            <a:pPr marL="0" indent="0">
              <a:buNone/>
            </a:pPr>
            <a:r>
              <a:rPr lang="en-US" dirty="0"/>
              <a:t>7. Set position size proportional to trend to noise ration (calculated as ratio of mean of daily returns to standard deviation of returns).</a:t>
            </a:r>
          </a:p>
          <a:p>
            <a:pPr marL="0" indent="0">
              <a:buNone/>
            </a:pPr>
            <a:r>
              <a:rPr lang="en-US" dirty="0"/>
              <a:t>8. If trend is positive (angle &gt; 0) then go long, else go short.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0552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63225-3424-AC66-2B0D-546A5C30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Performance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871A68-AD6B-C2D6-467C-5237C8D2D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Strategy was </a:t>
            </a:r>
            <a:r>
              <a:rPr lang="en-US" dirty="0" err="1"/>
              <a:t>backtested</a:t>
            </a:r>
            <a:r>
              <a:rPr lang="en-US" dirty="0"/>
              <a:t> on SP500 data over different periods of time from 2014 to 2026 using </a:t>
            </a:r>
            <a:r>
              <a:rPr lang="en-US" dirty="0" err="1"/>
              <a:t>yfinance</a:t>
            </a:r>
            <a:r>
              <a:rPr lang="en-US" dirty="0"/>
              <a:t> data and backtesting.py library.</a:t>
            </a:r>
          </a:p>
          <a:p>
            <a:r>
              <a:rPr lang="en-US" dirty="0"/>
              <a:t>Mean </a:t>
            </a:r>
            <a:r>
              <a:rPr lang="en-US" dirty="0" err="1"/>
              <a:t>sharpe</a:t>
            </a:r>
            <a:r>
              <a:rPr lang="en-US" dirty="0"/>
              <a:t> ratio was used as performance criterion</a:t>
            </a:r>
          </a:p>
          <a:p>
            <a:r>
              <a:rPr lang="en-US" dirty="0"/>
              <a:t>Minimum distance parameter was adjusted based on volatility</a:t>
            </a:r>
          </a:p>
          <a:p>
            <a:r>
              <a:rPr lang="en-US" dirty="0"/>
              <a:t>Results were compared to simple Buy and Hold strategy</a:t>
            </a:r>
          </a:p>
          <a:p>
            <a:r>
              <a:rPr lang="en-US" dirty="0"/>
              <a:t>Over different periods from 2014 to 2020 the average Sharpe ratio of trend following strategy was 0.87 compared to 0.82 of buy and hold.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3383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6194B-302E-6FD2-160F-C8B30434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D41D48-48A1-36CA-0FF7-EB36D9FB3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2 CPD algorithms were implemented and applied in trading</a:t>
            </a:r>
          </a:p>
          <a:p>
            <a:r>
              <a:rPr lang="en-US" dirty="0"/>
              <a:t>Both algorithms perform decently. </a:t>
            </a:r>
            <a:r>
              <a:rPr lang="en-US" dirty="0" err="1"/>
              <a:t>BinSeg</a:t>
            </a:r>
            <a:r>
              <a:rPr lang="en-US" dirty="0"/>
              <a:t> is computationally faster, O(</a:t>
            </a:r>
            <a:r>
              <a:rPr lang="en-US" dirty="0" err="1"/>
              <a:t>nlogn</a:t>
            </a:r>
            <a:r>
              <a:rPr lang="en-US" dirty="0"/>
              <a:t>) on average, but less accurate. </a:t>
            </a:r>
            <a:r>
              <a:rPr lang="en-US" dirty="0" err="1"/>
              <a:t>Opt</a:t>
            </a:r>
            <a:r>
              <a:rPr lang="en-US" dirty="0"/>
              <a:t> is slower, O(n^2), but finds globally optimal splits</a:t>
            </a:r>
          </a:p>
          <a:p>
            <a:r>
              <a:rPr lang="en-US" dirty="0"/>
              <a:t>Minimum distance parameter significantly influences detection results. Higher minimum distance filters out more noise, but detection delay increases.</a:t>
            </a:r>
          </a:p>
          <a:p>
            <a:r>
              <a:rPr lang="en-US" dirty="0" err="1"/>
              <a:t>Opt</a:t>
            </a:r>
            <a:r>
              <a:rPr lang="en-US" dirty="0"/>
              <a:t> can be further improved by introducing PELT pruning to reach O(n) time complexity</a:t>
            </a:r>
          </a:p>
          <a:p>
            <a:r>
              <a:rPr lang="en-US" dirty="0" err="1"/>
              <a:t>NaiveOnlineDetector</a:t>
            </a:r>
            <a:r>
              <a:rPr lang="en-US" dirty="0"/>
              <a:t> can, possibly, be further optimized</a:t>
            </a:r>
          </a:p>
          <a:p>
            <a:r>
              <a:rPr lang="en-US" dirty="0"/>
              <a:t>Trading strategy can be improved by adding more rules, using indicators and</a:t>
            </a:r>
          </a:p>
          <a:p>
            <a:pPr marL="0" indent="0">
              <a:buNone/>
            </a:pPr>
            <a:r>
              <a:rPr lang="en-US" dirty="0"/>
              <a:t>scraping alternative data like news, earnings calls and market sentiment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5089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0B0E0-BE9C-87E5-D1FB-97C85E4EC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Bibliography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89E2FF-18FF-0DA5-C9FE-44989A990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848"/>
            <a:ext cx="10515600" cy="510711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[1] Ryan Prescott Adams and David J. C. MacKay. Bayesian online changepoint</a:t>
            </a:r>
          </a:p>
          <a:p>
            <a:pPr marL="0" indent="0">
              <a:buNone/>
            </a:pPr>
            <a:r>
              <a:rPr lang="en-US" dirty="0"/>
              <a:t>detection. </a:t>
            </a:r>
            <a:r>
              <a:rPr lang="en-US" dirty="0" err="1"/>
              <a:t>arXiv</a:t>
            </a:r>
            <a:r>
              <a:rPr lang="en-US" dirty="0"/>
              <a:t> preprint arXiv:0710.3742, 2007. URL: https://arxiv.org/abs/0710.3742.</a:t>
            </a:r>
          </a:p>
          <a:p>
            <a:pPr marL="0" indent="0">
              <a:buNone/>
            </a:pPr>
            <a:r>
              <a:rPr lang="en-US" dirty="0"/>
              <a:t>[2] Philip Bretz. Notes on </a:t>
            </a:r>
            <a:r>
              <a:rPr lang="en-US" dirty="0" err="1"/>
              <a:t>bayesian</a:t>
            </a:r>
            <a:r>
              <a:rPr lang="en-US" dirty="0"/>
              <a:t> changepoint detection, 2020. URL: https://math.ou.edu/~pbretz/Changepoint_Detection.pdf.</a:t>
            </a:r>
          </a:p>
          <a:p>
            <a:pPr marL="0" indent="0">
              <a:buNone/>
            </a:pPr>
            <a:r>
              <a:rPr lang="en-US" dirty="0"/>
              <a:t>[3] </a:t>
            </a:r>
            <a:r>
              <a:rPr lang="en-US" dirty="0" err="1"/>
              <a:t>GeeksforGeeks</a:t>
            </a:r>
            <a:r>
              <a:rPr lang="en-US" dirty="0"/>
              <a:t> contributors. Residual sum of squares, 2024. URL: https://www.geeksforgeeks.org/maths/residual-sum-of-squares/.</a:t>
            </a:r>
          </a:p>
          <a:p>
            <a:pPr marL="0" indent="0">
              <a:buNone/>
            </a:pPr>
            <a:r>
              <a:rPr lang="en-US" dirty="0"/>
              <a:t>[4] </a:t>
            </a:r>
            <a:r>
              <a:rPr lang="en-US" dirty="0" err="1"/>
              <a:t>GeeksforGeeks</a:t>
            </a:r>
            <a:r>
              <a:rPr lang="en-US" dirty="0"/>
              <a:t> contributors. Linear regression formula, 2025. URL: https://www.geeksforgeeks.org/maths/linear-regression-formula/.</a:t>
            </a:r>
          </a:p>
          <a:p>
            <a:pPr marL="0" indent="0">
              <a:buNone/>
            </a:pPr>
            <a:r>
              <a:rPr lang="en-US" dirty="0"/>
              <a:t>[5] Pierre Granjon. The </a:t>
            </a:r>
            <a:r>
              <a:rPr lang="en-US" dirty="0" err="1"/>
              <a:t>cusum</a:t>
            </a:r>
            <a:r>
              <a:rPr lang="en-US" dirty="0"/>
              <a:t> algorithm: A short review, 2013. URL: https://hal.science/hal-00914697v1/document.</a:t>
            </a:r>
          </a:p>
          <a:p>
            <a:pPr marL="0" indent="0">
              <a:buNone/>
            </a:pPr>
            <a:r>
              <a:rPr lang="en-US" dirty="0"/>
              <a:t>[6] Laurent Oudre. Lecture 5: Change-point and anomaly detection, 2023.</a:t>
            </a:r>
          </a:p>
          <a:p>
            <a:pPr marL="0" indent="0">
              <a:buNone/>
            </a:pPr>
            <a:r>
              <a:rPr lang="en-US" dirty="0"/>
              <a:t>URL: https://www.laurentoudre.fr/ast/AST5.pdf.</a:t>
            </a:r>
          </a:p>
          <a:p>
            <a:pPr marL="0" indent="0">
              <a:buNone/>
            </a:pPr>
            <a:r>
              <a:rPr lang="en-US" dirty="0"/>
              <a:t>[7] Giovanni Romano. Multiple change-point detection, 2025. URL:</a:t>
            </a:r>
          </a:p>
          <a:p>
            <a:pPr marL="0" indent="0">
              <a:buNone/>
            </a:pPr>
            <a:r>
              <a:rPr lang="en-US" dirty="0"/>
              <a:t>https://www.lancaster.ac.uk/~romano/teaching/2425MATH337/3_multiple_changes.html.</a:t>
            </a:r>
          </a:p>
          <a:p>
            <a:pPr marL="0" indent="0">
              <a:buNone/>
            </a:pPr>
            <a:r>
              <a:rPr lang="en-US" dirty="0"/>
              <a:t>[8] Eric W. </a:t>
            </a:r>
            <a:r>
              <a:rPr lang="en-US" dirty="0" err="1"/>
              <a:t>Weisstein</a:t>
            </a:r>
            <a:r>
              <a:rPr lang="en-US" dirty="0"/>
              <a:t>. Least squares fitting. URL: https://mathworld.wolfram.com/LeastSquaresFitting.html.</a:t>
            </a:r>
          </a:p>
          <a:p>
            <a:pPr marL="0" indent="0">
              <a:buNone/>
            </a:pPr>
            <a:r>
              <a:rPr lang="en-US" dirty="0"/>
              <a:t>[9] Wikipedia contributors. Sharpe ratio. URL: https://en.wikipedia.org/wiki/Sharpe_ratio.</a:t>
            </a:r>
          </a:p>
          <a:p>
            <a:pPr marL="0" indent="0">
              <a:buNone/>
            </a:pPr>
            <a:r>
              <a:rPr lang="en-US" dirty="0"/>
              <a:t>[10] Wikipedia contributors. Simple linear regression. URL: https://en.wikipedia.org/wiki/Simple_linear_regression.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92223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1654</Words>
  <Application>Microsoft Office PowerPoint</Application>
  <PresentationFormat>Широкоэкранный</PresentationFormat>
  <Paragraphs>126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Тема Office</vt:lpstr>
      <vt:lpstr>Change-point Detection</vt:lpstr>
      <vt:lpstr>What is Change-point Detection?</vt:lpstr>
      <vt:lpstr>Cost Functions</vt:lpstr>
      <vt:lpstr>Types of Cost Functions</vt:lpstr>
      <vt:lpstr>Cost Computers</vt:lpstr>
      <vt:lpstr>Algorithms</vt:lpstr>
      <vt:lpstr>Binary Segmenation</vt:lpstr>
      <vt:lpstr>Binary Segmentation</vt:lpstr>
      <vt:lpstr>Optimal Partitioning</vt:lpstr>
      <vt:lpstr>Penalty Choice</vt:lpstr>
      <vt:lpstr>Online Wrapper</vt:lpstr>
      <vt:lpstr>Testing results</vt:lpstr>
      <vt:lpstr>Slope change detection offline</vt:lpstr>
      <vt:lpstr>Slope change online stock prices</vt:lpstr>
      <vt:lpstr>Linear Trend Following Trading Strategy</vt:lpstr>
      <vt:lpstr>Trading Strategy Steps</vt:lpstr>
      <vt:lpstr>Strategy Performance</vt:lpstr>
      <vt:lpstr>Conclusion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Даниил Кононов</dc:creator>
  <cp:lastModifiedBy>Даниил Кононов</cp:lastModifiedBy>
  <cp:revision>20</cp:revision>
  <dcterms:created xsi:type="dcterms:W3CDTF">2026-02-04T11:27:52Z</dcterms:created>
  <dcterms:modified xsi:type="dcterms:W3CDTF">2026-02-04T15:40:25Z</dcterms:modified>
</cp:coreProperties>
</file>